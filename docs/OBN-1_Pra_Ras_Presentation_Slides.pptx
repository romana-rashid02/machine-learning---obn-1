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09" d="100"/>
          <a:sy n="109" d="100"/>
        </p:scale>
        <p:origin x="706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794867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" name="Shape 1"/>
          <p:cNvSpPr/>
          <p:nvPr/>
        </p:nvSpPr>
        <p:spPr>
          <a:xfrm>
            <a:off x="0" y="73152"/>
            <a:ext cx="54864" cy="5065776"/>
          </a:xfrm>
          <a:prstGeom prst="rect">
            <a:avLst/>
          </a:prstGeom>
          <a:solidFill>
            <a:srgbClr val="26C6DA"/>
          </a:solidFill>
          <a:ln w="12700">
            <a:solidFill>
              <a:srgbClr val="26C6DA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1737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Discrimination of Objects Mounted on</a:t>
            </a:r>
            <a:endParaRPr lang="en-US" sz="2600" dirty="0"/>
          </a:p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Optical Bench Using Ultrasonic Sensing</a:t>
            </a:r>
            <a:endParaRPr lang="en-US" sz="2600" dirty="0"/>
          </a:p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Machine Learning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57200" y="2331720"/>
            <a:ext cx="8229600" cy="36576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6" name="Text 4"/>
          <p:cNvSpPr/>
          <p:nvPr/>
        </p:nvSpPr>
        <p:spPr>
          <a:xfrm>
            <a:off x="457200" y="2468880"/>
            <a:ext cx="3657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BA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by: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457200" y="2743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[Romana Rashid - 1428733]  ·  [Mithila Maruti Prabhu- 1567111]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457200" y="3154680"/>
            <a:ext cx="36576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BA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Supervisor: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57200" y="3401568"/>
            <a:ext cx="45720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FFD54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Dr. Andreas Pech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457200" y="3794760"/>
            <a:ext cx="6400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8BA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Machine Learning Project  |  Winter Semester 2025–2026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57200" y="4206240"/>
            <a:ext cx="1965960" cy="640080"/>
          </a:xfrm>
          <a:prstGeom prst="rect">
            <a:avLst/>
          </a:prstGeom>
          <a:solidFill>
            <a:srgbClr val="243058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2" name="Text 10"/>
          <p:cNvSpPr/>
          <p:nvPr/>
        </p:nvSpPr>
        <p:spPr>
          <a:xfrm>
            <a:off x="457200" y="420624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FC3F7"/>
                </a:solidFill>
              </a:rPr>
              <a:t>4</a:t>
            </a:r>
            <a:endParaRPr lang="en-US" sz="2200" dirty="0"/>
          </a:p>
        </p:txBody>
      </p:sp>
      <p:sp>
        <p:nvSpPr>
          <p:cNvPr id="13" name="Text 11"/>
          <p:cNvSpPr/>
          <p:nvPr/>
        </p:nvSpPr>
        <p:spPr>
          <a:xfrm>
            <a:off x="457200" y="4526280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7C7"/>
                </a:solidFill>
              </a:rPr>
              <a:t>Material Classes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633472" y="4206240"/>
            <a:ext cx="1965960" cy="640080"/>
          </a:xfrm>
          <a:prstGeom prst="rect">
            <a:avLst/>
          </a:prstGeom>
          <a:solidFill>
            <a:srgbClr val="243058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5" name="Text 13"/>
          <p:cNvSpPr/>
          <p:nvPr/>
        </p:nvSpPr>
        <p:spPr>
          <a:xfrm>
            <a:off x="2633472" y="420624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FC3F7"/>
                </a:solidFill>
              </a:rPr>
              <a:t>3</a:t>
            </a:r>
            <a:endParaRPr lang="en-US" sz="2200" dirty="0"/>
          </a:p>
        </p:txBody>
      </p:sp>
      <p:sp>
        <p:nvSpPr>
          <p:cNvPr id="16" name="Text 14"/>
          <p:cNvSpPr/>
          <p:nvPr/>
        </p:nvSpPr>
        <p:spPr>
          <a:xfrm>
            <a:off x="2633472" y="4526280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7C7"/>
                </a:solidFill>
              </a:rPr>
              <a:t>ML Models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4809744" y="4206240"/>
            <a:ext cx="1965960" cy="640080"/>
          </a:xfrm>
          <a:prstGeom prst="rect">
            <a:avLst/>
          </a:prstGeom>
          <a:solidFill>
            <a:srgbClr val="243058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8" name="Text 16"/>
          <p:cNvSpPr/>
          <p:nvPr/>
        </p:nvSpPr>
        <p:spPr>
          <a:xfrm>
            <a:off x="4809744" y="420624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FC3F7"/>
                </a:solidFill>
              </a:rPr>
              <a:t>2</a:t>
            </a:r>
            <a:endParaRPr lang="en-US" sz="2200" dirty="0"/>
          </a:p>
        </p:txBody>
      </p:sp>
      <p:sp>
        <p:nvSpPr>
          <p:cNvPr id="19" name="Text 17"/>
          <p:cNvSpPr/>
          <p:nvPr/>
        </p:nvSpPr>
        <p:spPr>
          <a:xfrm>
            <a:off x="4809744" y="4526280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7C7"/>
                </a:solidFill>
              </a:rPr>
              <a:t>Recording Sessions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6986016" y="4206240"/>
            <a:ext cx="1965960" cy="640080"/>
          </a:xfrm>
          <a:prstGeom prst="rect">
            <a:avLst/>
          </a:prstGeom>
          <a:solidFill>
            <a:srgbClr val="243058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1" name="Text 19"/>
          <p:cNvSpPr/>
          <p:nvPr/>
        </p:nvSpPr>
        <p:spPr>
          <a:xfrm>
            <a:off x="6986016" y="420624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4FC3F7"/>
                </a:solidFill>
              </a:rPr>
              <a:t>26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6986016" y="4526280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7C7"/>
                </a:solidFill>
              </a:rPr>
              <a:t>Distances (5–30 cm)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31D38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A7C7"/>
                </a:solidFill>
              </a:rPr>
              <a:t>Object Boundary Network (OBN) — Material Classification via Ultrasound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BA7C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Identifying material types by analysing reflected ultrasound signals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1325880" cy="777240"/>
          </a:xfrm>
          <a:prstGeom prst="rect">
            <a:avLst/>
          </a:prstGeom>
          <a:solidFill>
            <a:srgbClr val="243058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6" name="Text 4"/>
          <p:cNvSpPr/>
          <p:nvPr/>
        </p:nvSpPr>
        <p:spPr>
          <a:xfrm>
            <a:off x="274320" y="886968"/>
            <a:ext cx="1325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FC3F7"/>
                </a:solidFill>
              </a:rPr>
              <a:t>1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274320" y="1170432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Raw Signals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274320" y="1371600"/>
            <a:ext cx="1325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BA7C7"/>
                </a:solidFill>
              </a:rPr>
              <a:t>ADC recordings from ultrasound sensor</a:t>
            </a:r>
            <a:endParaRPr lang="en-US" sz="700" dirty="0"/>
          </a:p>
        </p:txBody>
      </p:sp>
      <p:sp>
        <p:nvSpPr>
          <p:cNvPr id="9" name="Text 7"/>
          <p:cNvSpPr/>
          <p:nvPr/>
        </p:nvSpPr>
        <p:spPr>
          <a:xfrm>
            <a:off x="1600200" y="960120"/>
            <a:ext cx="109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FC3F7"/>
                </a:solidFill>
              </a:rPr>
              <a:t>→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1709928" y="868680"/>
            <a:ext cx="1325880" cy="777240"/>
          </a:xfrm>
          <a:prstGeom prst="rect">
            <a:avLst/>
          </a:prstGeom>
          <a:solidFill>
            <a:srgbClr val="243058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1" name="Text 9"/>
          <p:cNvSpPr/>
          <p:nvPr/>
        </p:nvSpPr>
        <p:spPr>
          <a:xfrm>
            <a:off x="1709928" y="886968"/>
            <a:ext cx="1325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FC3F7"/>
                </a:solidFill>
              </a:rPr>
              <a:t>2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1709928" y="1170432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Feature Extraction</a:t>
            </a:r>
            <a:endParaRPr lang="en-US" sz="800" dirty="0"/>
          </a:p>
        </p:txBody>
      </p:sp>
      <p:sp>
        <p:nvSpPr>
          <p:cNvPr id="13" name="Text 11"/>
          <p:cNvSpPr/>
          <p:nvPr/>
        </p:nvSpPr>
        <p:spPr>
          <a:xfrm>
            <a:off x="1709928" y="1371600"/>
            <a:ext cx="1325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BA7C7"/>
                </a:solidFill>
              </a:rPr>
              <a:t>15 time + frequency domain features</a:t>
            </a:r>
            <a:endParaRPr lang="en-US" sz="700" dirty="0"/>
          </a:p>
        </p:txBody>
      </p:sp>
      <p:sp>
        <p:nvSpPr>
          <p:cNvPr id="14" name="Text 12"/>
          <p:cNvSpPr/>
          <p:nvPr/>
        </p:nvSpPr>
        <p:spPr>
          <a:xfrm>
            <a:off x="3035808" y="960120"/>
            <a:ext cx="109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FC3F7"/>
                </a:solidFill>
              </a:rPr>
              <a:t>→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3145536" y="868680"/>
            <a:ext cx="1325880" cy="777240"/>
          </a:xfrm>
          <a:prstGeom prst="rect">
            <a:avLst/>
          </a:prstGeom>
          <a:solidFill>
            <a:srgbClr val="243058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6" name="Text 14"/>
          <p:cNvSpPr/>
          <p:nvPr/>
        </p:nvSpPr>
        <p:spPr>
          <a:xfrm>
            <a:off x="3145536" y="886968"/>
            <a:ext cx="1325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FC3F7"/>
                </a:solidFill>
              </a:rPr>
              <a:t>3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145536" y="1170432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ML Models</a:t>
            </a:r>
            <a:endParaRPr lang="en-US" sz="800" dirty="0"/>
          </a:p>
        </p:txBody>
      </p:sp>
      <p:sp>
        <p:nvSpPr>
          <p:cNvPr id="18" name="Text 16"/>
          <p:cNvSpPr/>
          <p:nvPr/>
        </p:nvSpPr>
        <p:spPr>
          <a:xfrm>
            <a:off x="3145536" y="1371600"/>
            <a:ext cx="1325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BA7C7"/>
                </a:solidFill>
              </a:rPr>
              <a:t>RF · SVM · KNN</a:t>
            </a:r>
            <a:endParaRPr lang="en-US" sz="700" dirty="0"/>
          </a:p>
        </p:txBody>
      </p:sp>
      <p:sp>
        <p:nvSpPr>
          <p:cNvPr id="19" name="Text 17"/>
          <p:cNvSpPr/>
          <p:nvPr/>
        </p:nvSpPr>
        <p:spPr>
          <a:xfrm>
            <a:off x="4471416" y="960120"/>
            <a:ext cx="109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FC3F7"/>
                </a:solidFill>
              </a:rPr>
              <a:t>→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581144" y="868680"/>
            <a:ext cx="1325880" cy="777240"/>
          </a:xfrm>
          <a:prstGeom prst="rect">
            <a:avLst/>
          </a:prstGeom>
          <a:solidFill>
            <a:srgbClr val="243058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1" name="Text 19"/>
          <p:cNvSpPr/>
          <p:nvPr/>
        </p:nvSpPr>
        <p:spPr>
          <a:xfrm>
            <a:off x="4581144" y="886968"/>
            <a:ext cx="1325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FC3F7"/>
                </a:solidFill>
              </a:rPr>
              <a:t>4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4581144" y="1170432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Day 1 Training</a:t>
            </a:r>
            <a:endParaRPr lang="en-US" sz="800" dirty="0"/>
          </a:p>
        </p:txBody>
      </p:sp>
      <p:sp>
        <p:nvSpPr>
          <p:cNvPr id="23" name="Text 21"/>
          <p:cNvSpPr/>
          <p:nvPr/>
        </p:nvSpPr>
        <p:spPr>
          <a:xfrm>
            <a:off x="4581144" y="1371600"/>
            <a:ext cx="1325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BA7C7"/>
                </a:solidFill>
              </a:rPr>
              <a:t>80/20 stratified split</a:t>
            </a:r>
            <a:endParaRPr lang="en-US" sz="700" dirty="0"/>
          </a:p>
        </p:txBody>
      </p:sp>
      <p:sp>
        <p:nvSpPr>
          <p:cNvPr id="24" name="Text 22"/>
          <p:cNvSpPr/>
          <p:nvPr/>
        </p:nvSpPr>
        <p:spPr>
          <a:xfrm>
            <a:off x="5907024" y="960120"/>
            <a:ext cx="109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FC3F7"/>
                </a:solidFill>
              </a:rPr>
              <a:t>→</a:t>
            </a:r>
            <a:endParaRPr lang="en-US" sz="1400" dirty="0"/>
          </a:p>
        </p:txBody>
      </p:sp>
      <p:sp>
        <p:nvSpPr>
          <p:cNvPr id="25" name="Shape 23"/>
          <p:cNvSpPr/>
          <p:nvPr/>
        </p:nvSpPr>
        <p:spPr>
          <a:xfrm>
            <a:off x="6016752" y="868680"/>
            <a:ext cx="1325880" cy="777240"/>
          </a:xfrm>
          <a:prstGeom prst="rect">
            <a:avLst/>
          </a:prstGeom>
          <a:solidFill>
            <a:srgbClr val="243058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6" name="Text 24"/>
          <p:cNvSpPr/>
          <p:nvPr/>
        </p:nvSpPr>
        <p:spPr>
          <a:xfrm>
            <a:off x="6016752" y="886968"/>
            <a:ext cx="1325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FC3F7"/>
                </a:solidFill>
              </a:rPr>
              <a:t>5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6016752" y="1170432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Day 2 Evaluation</a:t>
            </a:r>
            <a:endParaRPr lang="en-US" sz="800" dirty="0"/>
          </a:p>
        </p:txBody>
      </p:sp>
      <p:sp>
        <p:nvSpPr>
          <p:cNvPr id="28" name="Text 26"/>
          <p:cNvSpPr/>
          <p:nvPr/>
        </p:nvSpPr>
        <p:spPr>
          <a:xfrm>
            <a:off x="6016752" y="1371600"/>
            <a:ext cx="1325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BA7C7"/>
                </a:solidFill>
              </a:rPr>
              <a:t>Cross-session test</a:t>
            </a:r>
            <a:endParaRPr lang="en-US" sz="700" dirty="0"/>
          </a:p>
        </p:txBody>
      </p:sp>
      <p:sp>
        <p:nvSpPr>
          <p:cNvPr id="29" name="Text 27"/>
          <p:cNvSpPr/>
          <p:nvPr/>
        </p:nvSpPr>
        <p:spPr>
          <a:xfrm>
            <a:off x="7342632" y="960120"/>
            <a:ext cx="109728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dirty="0">
                <a:solidFill>
                  <a:srgbClr val="4FC3F7"/>
                </a:solidFill>
              </a:rPr>
              <a:t>→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7452360" y="868680"/>
            <a:ext cx="1325880" cy="777240"/>
          </a:xfrm>
          <a:prstGeom prst="rect">
            <a:avLst/>
          </a:prstGeom>
          <a:solidFill>
            <a:srgbClr val="243058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1" name="Text 29"/>
          <p:cNvSpPr/>
          <p:nvPr/>
        </p:nvSpPr>
        <p:spPr>
          <a:xfrm>
            <a:off x="7452360" y="886968"/>
            <a:ext cx="1325880" cy="30175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4FC3F7"/>
                </a:solidFill>
              </a:rPr>
              <a:t>6</a:t>
            </a:r>
            <a:endParaRPr lang="en-US" sz="1800" dirty="0"/>
          </a:p>
        </p:txBody>
      </p:sp>
      <p:sp>
        <p:nvSpPr>
          <p:cNvPr id="32" name="Text 30"/>
          <p:cNvSpPr/>
          <p:nvPr/>
        </p:nvSpPr>
        <p:spPr>
          <a:xfrm>
            <a:off x="7452360" y="1170432"/>
            <a:ext cx="132588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FFFFFF"/>
                </a:solidFill>
              </a:rPr>
              <a:t>Results</a:t>
            </a:r>
            <a:endParaRPr lang="en-US" sz="800" dirty="0"/>
          </a:p>
        </p:txBody>
      </p:sp>
      <p:sp>
        <p:nvSpPr>
          <p:cNvPr id="33" name="Text 31"/>
          <p:cNvSpPr/>
          <p:nvPr/>
        </p:nvSpPr>
        <p:spPr>
          <a:xfrm>
            <a:off x="7452360" y="1371600"/>
            <a:ext cx="13258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700" dirty="0">
                <a:solidFill>
                  <a:srgbClr val="8BA7C7"/>
                </a:solidFill>
              </a:rPr>
              <a:t>Accuracy, F1, drift</a:t>
            </a:r>
            <a:endParaRPr lang="en-US" sz="700" dirty="0"/>
          </a:p>
        </p:txBody>
      </p:sp>
      <p:sp>
        <p:nvSpPr>
          <p:cNvPr id="34" name="Shape 32"/>
          <p:cNvSpPr/>
          <p:nvPr/>
        </p:nvSpPr>
        <p:spPr>
          <a:xfrm>
            <a:off x="274320" y="1783080"/>
            <a:ext cx="4114800" cy="25603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5" name="Text 33"/>
          <p:cNvSpPr/>
          <p:nvPr/>
        </p:nvSpPr>
        <p:spPr>
          <a:xfrm>
            <a:off x="365760" y="1801368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744"/>
                </a:solidFill>
              </a:rPr>
              <a:t>Objective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320040" y="208483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Classify 4 materials from ultrasound reflections</a:t>
            </a:r>
            <a:endParaRPr lang="en-US" sz="1000" dirty="0"/>
          </a:p>
        </p:txBody>
      </p:sp>
      <p:sp>
        <p:nvSpPr>
          <p:cNvPr id="37" name="Text 35"/>
          <p:cNvSpPr/>
          <p:nvPr/>
        </p:nvSpPr>
        <p:spPr>
          <a:xfrm>
            <a:off x="320040" y="2386584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ML models on time &amp; frequency features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320040" y="2688336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Evaluate cross-session generalisation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663440" y="1783080"/>
            <a:ext cx="4114800" cy="25603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0" name="Text 38"/>
          <p:cNvSpPr/>
          <p:nvPr/>
        </p:nvSpPr>
        <p:spPr>
          <a:xfrm>
            <a:off x="4754880" y="1801368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744"/>
                </a:solidFill>
              </a:rPr>
              <a:t>Approach</a:t>
            </a:r>
            <a:endParaRPr lang="en-US" sz="1000" dirty="0"/>
          </a:p>
        </p:txBody>
      </p:sp>
      <p:sp>
        <p:nvSpPr>
          <p:cNvPr id="41" name="Text 39"/>
          <p:cNvSpPr/>
          <p:nvPr/>
        </p:nvSpPr>
        <p:spPr>
          <a:xfrm>
            <a:off x="4709160" y="2084832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Collect ADC signals at 5–30 cm (26 positions)</a:t>
            </a:r>
            <a:endParaRPr lang="en-US" sz="1000" dirty="0"/>
          </a:p>
        </p:txBody>
      </p:sp>
      <p:sp>
        <p:nvSpPr>
          <p:cNvPr id="42" name="Text 40"/>
          <p:cNvSpPr/>
          <p:nvPr/>
        </p:nvSpPr>
        <p:spPr>
          <a:xfrm>
            <a:off x="4709160" y="2386584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Extract 15 statistical &amp; spectral features</a:t>
            </a:r>
            <a:endParaRPr lang="en-US" sz="1000" dirty="0"/>
          </a:p>
        </p:txBody>
      </p:sp>
      <p:sp>
        <p:nvSpPr>
          <p:cNvPr id="43" name="Text 41"/>
          <p:cNvSpPr/>
          <p:nvPr/>
        </p:nvSpPr>
        <p:spPr>
          <a:xfrm>
            <a:off x="4709160" y="2688336"/>
            <a:ext cx="40233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Train RF, SVM, KNN — evaluate on Day 2 data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274320" y="3246120"/>
            <a:ext cx="8503920" cy="25603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45" name="Text 43"/>
          <p:cNvSpPr/>
          <p:nvPr/>
        </p:nvSpPr>
        <p:spPr>
          <a:xfrm>
            <a:off x="365760" y="3264408"/>
            <a:ext cx="8321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1A2744"/>
                </a:solidFill>
              </a:rPr>
              <a:t>Motivation</a:t>
            </a:r>
            <a:endParaRPr lang="en-US" sz="1000" dirty="0"/>
          </a:p>
        </p:txBody>
      </p:sp>
      <p:sp>
        <p:nvSpPr>
          <p:cNvPr id="46" name="Text 44"/>
          <p:cNvSpPr/>
          <p:nvPr/>
        </p:nvSpPr>
        <p:spPr>
          <a:xfrm>
            <a:off x="320040" y="3547872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Non-invasive material ID for robotics &amp; logistics</a:t>
            </a:r>
            <a:endParaRPr lang="en-US" sz="1000" dirty="0"/>
          </a:p>
        </p:txBody>
      </p:sp>
      <p:sp>
        <p:nvSpPr>
          <p:cNvPr id="47" name="Text 45"/>
          <p:cNvSpPr/>
          <p:nvPr/>
        </p:nvSpPr>
        <p:spPr>
          <a:xfrm>
            <a:off x="320040" y="3849624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Ultrasound: cost-effective, works in low-visibility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320040" y="4151376"/>
            <a:ext cx="84124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000" dirty="0">
                <a:solidFill>
                  <a:srgbClr val="E8EEF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Benchmark temporal drift on model reliability</a:t>
            </a:r>
            <a:endParaRPr lang="en-US" sz="1000" dirty="0"/>
          </a:p>
        </p:txBody>
      </p:sp>
      <p:sp>
        <p:nvSpPr>
          <p:cNvPr id="49" name="Text 47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31D38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A7C7"/>
                </a:solidFill>
              </a:rPr>
              <a:t>Object Boundary Network (OBN) — Material Classification via Ultrasound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Data Collection &amp; Setup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BA7C7"/>
                </a:solidFill>
              </a:rPr>
              <a:t>Two recording sessions — 4 material classes at 26 distance positions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841248"/>
            <a:ext cx="1965960" cy="640080"/>
          </a:xfrm>
          <a:prstGeom prst="rect">
            <a:avLst/>
          </a:prstGeom>
          <a:solidFill>
            <a:srgbClr val="243058"/>
          </a:solidFill>
          <a:ln w="12700">
            <a:solidFill>
              <a:srgbClr val="26C6DA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6" name="Text 4"/>
          <p:cNvSpPr/>
          <p:nvPr/>
        </p:nvSpPr>
        <p:spPr>
          <a:xfrm>
            <a:off x="274320" y="841248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6C6DA"/>
                </a:solidFill>
              </a:rPr>
              <a:t>4</a:t>
            </a:r>
            <a:endParaRPr lang="en-US" sz="2000" dirty="0"/>
          </a:p>
        </p:txBody>
      </p:sp>
      <p:sp>
        <p:nvSpPr>
          <p:cNvPr id="7" name="Text 5"/>
          <p:cNvSpPr/>
          <p:nvPr/>
        </p:nvSpPr>
        <p:spPr>
          <a:xfrm>
            <a:off x="274320" y="1161288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7C7"/>
                </a:solidFill>
              </a:rPr>
              <a:t>Material Classes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450592" y="841248"/>
            <a:ext cx="1965960" cy="640080"/>
          </a:xfrm>
          <a:prstGeom prst="rect">
            <a:avLst/>
          </a:prstGeom>
          <a:solidFill>
            <a:srgbClr val="243058"/>
          </a:solidFill>
          <a:ln w="12700">
            <a:solidFill>
              <a:srgbClr val="26C6DA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9" name="Text 7"/>
          <p:cNvSpPr/>
          <p:nvPr/>
        </p:nvSpPr>
        <p:spPr>
          <a:xfrm>
            <a:off x="2450592" y="841248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6C6DA"/>
                </a:solidFill>
              </a:rPr>
              <a:t>26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2450592" y="1161288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7C7"/>
                </a:solidFill>
              </a:rPr>
              <a:t>Distances (5–30 cm)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4626864" y="841248"/>
            <a:ext cx="1965960" cy="640080"/>
          </a:xfrm>
          <a:prstGeom prst="rect">
            <a:avLst/>
          </a:prstGeom>
          <a:solidFill>
            <a:srgbClr val="243058"/>
          </a:solidFill>
          <a:ln w="12700">
            <a:solidFill>
              <a:srgbClr val="26C6DA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2" name="Text 10"/>
          <p:cNvSpPr/>
          <p:nvPr/>
        </p:nvSpPr>
        <p:spPr>
          <a:xfrm>
            <a:off x="4626864" y="841248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6C6DA"/>
                </a:solidFill>
              </a:rPr>
              <a:t>2</a:t>
            </a:r>
            <a:endParaRPr lang="en-US" sz="2000" dirty="0"/>
          </a:p>
        </p:txBody>
      </p:sp>
      <p:sp>
        <p:nvSpPr>
          <p:cNvPr id="13" name="Text 11"/>
          <p:cNvSpPr/>
          <p:nvPr/>
        </p:nvSpPr>
        <p:spPr>
          <a:xfrm>
            <a:off x="4626864" y="1161288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7C7"/>
                </a:solidFill>
              </a:rPr>
              <a:t>Recording Sessions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6803136" y="841248"/>
            <a:ext cx="1965960" cy="640080"/>
          </a:xfrm>
          <a:prstGeom prst="rect">
            <a:avLst/>
          </a:prstGeom>
          <a:solidFill>
            <a:srgbClr val="243058"/>
          </a:solidFill>
          <a:ln w="12700">
            <a:solidFill>
              <a:srgbClr val="26C6DA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5" name="Text 13"/>
          <p:cNvSpPr/>
          <p:nvPr/>
        </p:nvSpPr>
        <p:spPr>
          <a:xfrm>
            <a:off x="6803136" y="841248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26C6DA"/>
                </a:solidFill>
              </a:rPr>
              <a:t>~2600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6803136" y="1161288"/>
            <a:ext cx="19659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8BA7C7"/>
                </a:solidFill>
              </a:rPr>
              <a:t>Measurements / Session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274320" y="1600200"/>
            <a:ext cx="1965960" cy="1188720"/>
          </a:xfrm>
          <a:prstGeom prst="rect">
            <a:avLst/>
          </a:prstGeom>
          <a:solidFill>
            <a:srgbClr val="243058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8" name="Text 16"/>
          <p:cNvSpPr/>
          <p:nvPr/>
        </p:nvSpPr>
        <p:spPr>
          <a:xfrm>
            <a:off x="274320" y="162763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D54F"/>
                </a:solidFill>
              </a:rPr>
              <a:t>Laptop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65760" y="1920240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EEF4"/>
                </a:solidFill>
              </a:rPr>
              <a:t>Smooth flat metallic-plastic surface, moderate reflectivity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2450592" y="1600200"/>
            <a:ext cx="1965960" cy="1188720"/>
          </a:xfrm>
          <a:prstGeom prst="rect">
            <a:avLst/>
          </a:prstGeom>
          <a:solidFill>
            <a:srgbClr val="243058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1" name="Text 19"/>
          <p:cNvSpPr/>
          <p:nvPr/>
        </p:nvSpPr>
        <p:spPr>
          <a:xfrm>
            <a:off x="2450592" y="162763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D54F"/>
                </a:solidFill>
              </a:rPr>
              <a:t>PB w/ Foam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542032" y="1920240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EEF4"/>
                </a:solidFill>
              </a:rPr>
              <a:t>Dampened box — foam absorbs partial signal energy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4626864" y="1600200"/>
            <a:ext cx="1965960" cy="1188720"/>
          </a:xfrm>
          <a:prstGeom prst="rect">
            <a:avLst/>
          </a:prstGeom>
          <a:solidFill>
            <a:srgbClr val="243058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4" name="Text 22"/>
          <p:cNvSpPr/>
          <p:nvPr/>
        </p:nvSpPr>
        <p:spPr>
          <a:xfrm>
            <a:off x="4626864" y="162763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D54F"/>
                </a:solidFill>
              </a:rPr>
              <a:t>PB w/o Foam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4718304" y="1920240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EEF4"/>
                </a:solidFill>
              </a:rPr>
              <a:t>Hollow plastic shell — stronger internal echoes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803136" y="1600200"/>
            <a:ext cx="1965960" cy="1188720"/>
          </a:xfrm>
          <a:prstGeom prst="rect">
            <a:avLst/>
          </a:prstGeom>
          <a:solidFill>
            <a:srgbClr val="243058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7" name="Text 25"/>
          <p:cNvSpPr/>
          <p:nvPr/>
        </p:nvSpPr>
        <p:spPr>
          <a:xfrm>
            <a:off x="6803136" y="1627632"/>
            <a:ext cx="196596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D54F"/>
                </a:solidFill>
              </a:rPr>
              <a:t>Steel</a:t>
            </a:r>
            <a:endParaRPr lang="en-US" sz="1100" dirty="0"/>
          </a:p>
        </p:txBody>
      </p:sp>
      <p:sp>
        <p:nvSpPr>
          <p:cNvPr id="28" name="Text 26"/>
          <p:cNvSpPr/>
          <p:nvPr/>
        </p:nvSpPr>
        <p:spPr>
          <a:xfrm>
            <a:off x="6894576" y="1920240"/>
            <a:ext cx="178308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E8EEF4"/>
                </a:solidFill>
              </a:rPr>
              <a:t>High-density smooth reflector, strongest signal amplitude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274320" y="2880360"/>
            <a:ext cx="4114800" cy="256032"/>
          </a:xfrm>
          <a:prstGeom prst="rect">
            <a:avLst/>
          </a:prstGeom>
          <a:solidFill>
            <a:srgbClr val="0D47A1"/>
          </a:solidFill>
          <a:ln w="12700">
            <a:solidFill>
              <a:srgbClr val="42A5F5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0" name="Text 28"/>
          <p:cNvSpPr/>
          <p:nvPr/>
        </p:nvSpPr>
        <p:spPr>
          <a:xfrm>
            <a:off x="365760" y="2898648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Day 1 — Training Session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365760" y="318211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EEF4"/>
                </a:solidFill>
              </a:rPr>
              <a:t>Used for training all ML models (80/20 stratified split)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365760" y="345643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EEF4"/>
                </a:solidFill>
              </a:rPr>
              <a:t>Data: /data/raw/ — 26 distances × 4 classes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754880" y="2880360"/>
            <a:ext cx="4114800" cy="256032"/>
          </a:xfrm>
          <a:prstGeom prst="rect">
            <a:avLst/>
          </a:prstGeom>
          <a:solidFill>
            <a:srgbClr val="4A148C"/>
          </a:solidFill>
          <a:ln w="12700">
            <a:solidFill>
              <a:srgbClr val="CE93D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4" name="Text 32"/>
          <p:cNvSpPr/>
          <p:nvPr/>
        </p:nvSpPr>
        <p:spPr>
          <a:xfrm>
            <a:off x="4846320" y="2898648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FFFFF"/>
                </a:solidFill>
              </a:rPr>
              <a:t>Day 2 — Evaluation Session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>
            <a:off x="4846320" y="318211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EEF4"/>
                </a:solidFill>
              </a:rPr>
              <a:t>Recorded independently — tests temporal drift &amp; robustness</a:t>
            </a:r>
            <a:endParaRPr lang="en-US" sz="950" dirty="0"/>
          </a:p>
        </p:txBody>
      </p:sp>
      <p:sp>
        <p:nvSpPr>
          <p:cNvPr id="36" name="Text 34"/>
          <p:cNvSpPr/>
          <p:nvPr/>
        </p:nvSpPr>
        <p:spPr>
          <a:xfrm>
            <a:off x="4846320" y="3456432"/>
            <a:ext cx="3931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EEF4"/>
                </a:solidFill>
              </a:rPr>
              <a:t>Data: /data/raw_day2/ — same structure as Day 1</a:t>
            </a:r>
            <a:endParaRPr lang="en-US" sz="950" dirty="0"/>
          </a:p>
        </p:txBody>
      </p:sp>
      <p:sp>
        <p:nvSpPr>
          <p:cNvPr id="37" name="Text 35"/>
          <p:cNvSpPr/>
          <p:nvPr/>
        </p:nvSpPr>
        <p:spPr>
          <a:xfrm>
            <a:off x="274320" y="3886200"/>
            <a:ext cx="8595360" cy="411480"/>
          </a:xfrm>
          <a:prstGeom prst="rect">
            <a:avLst/>
          </a:prstGeom>
          <a:solidFill>
            <a:srgbClr val="131D38"/>
          </a:solidFill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850" i="1" dirty="0">
                <a:solidFill>
                  <a:srgbClr val="8BA7C7"/>
                </a:solidFill>
              </a:rPr>
              <a:t>Signal Format: Each .txt file contains multiple ADC rows. Header encodes sample rate (32768 Hz), buffer size, sensitivity (84), measurements, frequency (512 Hz). Each row provides tab-separated ADC values forming a full waveform.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31D38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A7C7"/>
                </a:solidFill>
              </a:rPr>
              <a:t>Object Boundary Network (OBN) — Material Classification via Ultrasound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Feature Engineering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BA7C7"/>
                </a:solidFill>
              </a:rPr>
              <a:t>15 hand-crafted features per measurement from time &amp; frequency domain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274320" y="84124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C3F7"/>
                </a:solidFill>
              </a:rPr>
              <a:t>⏱ Time-Domain Features (10)</a:t>
            </a:r>
            <a:endParaRPr lang="en-US" sz="11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115568"/>
          <a:ext cx="4206240" cy="2304288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05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0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6C6DA"/>
                          </a:solidFill>
                        </a:rPr>
                        <a:t>mean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8EEF4"/>
                          </a:solidFill>
                        </a:rPr>
                        <a:t>Average signal amplitude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6C6DA"/>
                          </a:solidFill>
                        </a:rPr>
                        <a:t>std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8EEF4"/>
                          </a:solidFill>
                        </a:rPr>
                        <a:t>Amplitude variability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6C6DA"/>
                          </a:solidFill>
                        </a:rPr>
                        <a:t>max / min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8EEF4"/>
                          </a:solidFill>
                        </a:rPr>
                        <a:t>Peak positive/negative values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6C6DA"/>
                          </a:solidFill>
                        </a:rPr>
                        <a:t>ptp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8EEF4"/>
                          </a:solidFill>
                        </a:rPr>
                        <a:t>Peak-to-peak range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6C6DA"/>
                          </a:solidFill>
                        </a:rPr>
                        <a:t>rms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8EEF4"/>
                          </a:solidFill>
                        </a:rPr>
                        <a:t>Root mean square energy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6C6DA"/>
                          </a:solidFill>
                        </a:rPr>
                        <a:t>energy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8EEF4"/>
                          </a:solidFill>
                        </a:rPr>
                        <a:t>Total signal power (∑ x²)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6C6DA"/>
                          </a:solidFill>
                        </a:rPr>
                        <a:t>abs_mean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8EEF4"/>
                          </a:solidFill>
                        </a:rPr>
                        <a:t>Mean of absolute values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26C6DA"/>
                          </a:solidFill>
                        </a:rPr>
                        <a:t>argmax / argmin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8EEF4"/>
                          </a:solidFill>
                        </a:rPr>
                        <a:t>Sample indices of peaks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7" name="Text 4"/>
          <p:cNvSpPr/>
          <p:nvPr/>
        </p:nvSpPr>
        <p:spPr>
          <a:xfrm>
            <a:off x="4663440" y="841248"/>
            <a:ext cx="41148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4FC3F7"/>
                </a:solidFill>
              </a:rPr>
              <a:t>📈 Frequency-Domain Features (5)</a:t>
            </a:r>
            <a:endParaRPr lang="en-US" sz="1100" dirty="0"/>
          </a:p>
        </p:txBody>
      </p:sp>
      <p:graphicFrame>
        <p:nvGraphicFramePr>
          <p:cNvPr id="9" name="Table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663440" y="1115568"/>
          <a:ext cx="4114800" cy="1536192"/>
        </p:xfrm>
        <a:graphic>
          <a:graphicData uri="http://schemas.openxmlformats.org/drawingml/2006/table">
            <a:tbl>
              <a:tblPr/>
              <a:tblGrid>
                <a:gridCol w="2057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574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Feature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058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Description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4305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D54F"/>
                          </a:solidFill>
                        </a:rPr>
                        <a:t>fft_mean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8EEF4"/>
                          </a:solidFill>
                        </a:rPr>
                        <a:t>Average spectral magnitude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D54F"/>
                          </a:solidFill>
                        </a:rPr>
                        <a:t>fft_std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8EEF4"/>
                          </a:solidFill>
                        </a:rPr>
                        <a:t>Frequency content spread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D54F"/>
                          </a:solidFill>
                        </a:rPr>
                        <a:t>fft_max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8EEF4"/>
                          </a:solidFill>
                        </a:rPr>
                        <a:t>Dominant frequency amplitude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D54F"/>
                          </a:solidFill>
                        </a:rPr>
                        <a:t>fft_peak_bin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8EEF4"/>
                          </a:solidFill>
                        </a:rPr>
                        <a:t>Index of dominant frequency bin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56032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b="1" dirty="0">
                          <a:solidFill>
                            <a:srgbClr val="FFD54F"/>
                          </a:solidFill>
                        </a:rPr>
                        <a:t>fft_energy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900" dirty="0">
                          <a:solidFill>
                            <a:srgbClr val="E8EEF4"/>
                          </a:solidFill>
                        </a:rPr>
                        <a:t>Total spectral energy (∑|X|²)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8" name="Text 5"/>
          <p:cNvSpPr/>
          <p:nvPr/>
        </p:nvSpPr>
        <p:spPr>
          <a:xfrm>
            <a:off x="4663440" y="2880360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EEF4"/>
                </a:solidFill>
              </a:rPr>
              <a:t>Distance (cm) is included as an explicit numeric feature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4663440" y="3182112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EEF4"/>
                </a:solidFill>
              </a:rPr>
              <a:t>FFT features computed via scipy.fft.rfft on the raw ADC signal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4663440" y="3483864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EEF4"/>
                </a:solidFill>
              </a:rPr>
              <a:t>Normalisation via StandardScaler inside SVM &amp; KNN pipelines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4663440" y="3785616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EEF4"/>
                </a:solidFill>
              </a:rPr>
              <a:t>Total dataset: ~2600 rows × 16 columns (15 features + distance)</a:t>
            </a:r>
            <a:endParaRPr lang="en-US" sz="950" dirty="0"/>
          </a:p>
        </p:txBody>
      </p:sp>
      <p:sp>
        <p:nvSpPr>
          <p:cNvPr id="13" name="Text 9"/>
          <p:cNvSpPr/>
          <p:nvPr/>
        </p:nvSpPr>
        <p:spPr>
          <a:xfrm>
            <a:off x="4663440" y="4087368"/>
            <a:ext cx="4114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EEF4"/>
                </a:solidFill>
              </a:rPr>
              <a:t>Two feature sets: Full range (26 distances) and 4-distance subset (10, 15, 20, 25 cm)</a:t>
            </a:r>
            <a:endParaRPr lang="en-US" sz="950" dirty="0"/>
          </a:p>
        </p:txBody>
      </p:sp>
      <p:sp>
        <p:nvSpPr>
          <p:cNvPr id="14" name="Text 10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31D38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A7C7"/>
                </a:solidFill>
              </a:rPr>
              <a:t>Object Boundary Network (OBN) — Material Classification via Ultrasound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/>
          <p:nvPr/>
        </p:nvSpPr>
        <p:spPr>
          <a:xfrm>
            <a:off x="365760" y="137160"/>
            <a:ext cx="82296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Machine Learning Models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02920"/>
            <a:ext cx="82296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8BA7C7"/>
                </a:solidFill>
              </a:rPr>
              <a:t>Three classifiers compared — trained on Day 1, tested on Day 2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822960"/>
            <a:ext cx="2788920" cy="4023360"/>
          </a:xfrm>
          <a:prstGeom prst="rect">
            <a:avLst/>
          </a:prstGeom>
          <a:solidFill>
            <a:srgbClr val="1565C0"/>
          </a:solidFill>
          <a:ln w="19050">
            <a:solidFill>
              <a:srgbClr val="42A5F5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6" name="Text 4"/>
          <p:cNvSpPr/>
          <p:nvPr/>
        </p:nvSpPr>
        <p:spPr>
          <a:xfrm>
            <a:off x="228600" y="841248"/>
            <a:ext cx="2788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Random Forest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20040" y="12344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42A5F5"/>
                </a:solidFill>
              </a:rPr>
              <a:t>Hyperparameters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320040" y="1463040"/>
            <a:ext cx="2606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E8EEF4"/>
                </a:solidFill>
              </a:rPr>
              <a:t>n_estimators = 500</a:t>
            </a:r>
            <a:endParaRPr lang="en-US" sz="850" dirty="0"/>
          </a:p>
        </p:txBody>
      </p:sp>
      <p:sp>
        <p:nvSpPr>
          <p:cNvPr id="9" name="Text 7"/>
          <p:cNvSpPr/>
          <p:nvPr/>
        </p:nvSpPr>
        <p:spPr>
          <a:xfrm>
            <a:off x="320040" y="1700784"/>
            <a:ext cx="2606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E8EEF4"/>
                </a:solidFill>
              </a:rPr>
              <a:t>max_depth = None</a:t>
            </a:r>
            <a:endParaRPr lang="en-US" sz="850" dirty="0"/>
          </a:p>
        </p:txBody>
      </p:sp>
      <p:sp>
        <p:nvSpPr>
          <p:cNvPr id="10" name="Text 8"/>
          <p:cNvSpPr/>
          <p:nvPr/>
        </p:nvSpPr>
        <p:spPr>
          <a:xfrm>
            <a:off x="320040" y="1938528"/>
            <a:ext cx="2606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E8EEF4"/>
                </a:solidFill>
              </a:rPr>
              <a:t>min_samples_split = 2</a:t>
            </a:r>
            <a:endParaRPr lang="en-US" sz="850" dirty="0"/>
          </a:p>
        </p:txBody>
      </p:sp>
      <p:sp>
        <p:nvSpPr>
          <p:cNvPr id="11" name="Text 9"/>
          <p:cNvSpPr/>
          <p:nvPr/>
        </p:nvSpPr>
        <p:spPr>
          <a:xfrm>
            <a:off x="320040" y="2176272"/>
            <a:ext cx="2606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E8EEF4"/>
                </a:solidFill>
              </a:rPr>
              <a:t>random_state = 42</a:t>
            </a:r>
            <a:endParaRPr lang="en-US" sz="850" dirty="0"/>
          </a:p>
        </p:txBody>
      </p:sp>
      <p:sp>
        <p:nvSpPr>
          <p:cNvPr id="12" name="Text 10"/>
          <p:cNvSpPr/>
          <p:nvPr/>
        </p:nvSpPr>
        <p:spPr>
          <a:xfrm>
            <a:off x="320040" y="251460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9F0AE"/>
                </a:solidFill>
              </a:rPr>
              <a:t>✓ Strengths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320040" y="2743200"/>
            <a:ext cx="2606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E8EEF4"/>
                </a:solidFill>
              </a:rPr>
              <a:t>Handles non-linear boundaries naturally</a:t>
            </a:r>
            <a:endParaRPr lang="en-US" sz="850" dirty="0"/>
          </a:p>
        </p:txBody>
      </p:sp>
      <p:sp>
        <p:nvSpPr>
          <p:cNvPr id="14" name="Text 12"/>
          <p:cNvSpPr/>
          <p:nvPr/>
        </p:nvSpPr>
        <p:spPr>
          <a:xfrm>
            <a:off x="320040" y="2980944"/>
            <a:ext cx="2606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E8EEF4"/>
                </a:solidFill>
              </a:rPr>
              <a:t>Robust to outliers</a:t>
            </a:r>
            <a:endParaRPr lang="en-US" sz="850" dirty="0"/>
          </a:p>
        </p:txBody>
      </p:sp>
      <p:sp>
        <p:nvSpPr>
          <p:cNvPr id="15" name="Text 13"/>
          <p:cNvSpPr/>
          <p:nvPr/>
        </p:nvSpPr>
        <p:spPr>
          <a:xfrm>
            <a:off x="320040" y="3218688"/>
            <a:ext cx="2606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E8EEF4"/>
                </a:solidFill>
              </a:rPr>
              <a:t>Provides feature importance</a:t>
            </a:r>
            <a:endParaRPr lang="en-US" sz="850" dirty="0"/>
          </a:p>
        </p:txBody>
      </p:sp>
      <p:sp>
        <p:nvSpPr>
          <p:cNvPr id="16" name="Text 14"/>
          <p:cNvSpPr/>
          <p:nvPr/>
        </p:nvSpPr>
        <p:spPr>
          <a:xfrm>
            <a:off x="320040" y="35204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9A9A"/>
                </a:solidFill>
              </a:rPr>
              <a:t>⚠ Limitations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320040" y="3749040"/>
            <a:ext cx="2606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E8EEF4"/>
                </a:solidFill>
              </a:rPr>
              <a:t>Slower inference for large forests</a:t>
            </a:r>
            <a:endParaRPr lang="en-US" sz="850" dirty="0"/>
          </a:p>
        </p:txBody>
      </p:sp>
      <p:sp>
        <p:nvSpPr>
          <p:cNvPr id="18" name="Text 16"/>
          <p:cNvSpPr/>
          <p:nvPr/>
        </p:nvSpPr>
        <p:spPr>
          <a:xfrm>
            <a:off x="320040" y="3986784"/>
            <a:ext cx="2606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E8EEF4"/>
                </a:solidFill>
              </a:rPr>
              <a:t>Memory-intensive</a:t>
            </a:r>
            <a:endParaRPr lang="en-US" sz="850" dirty="0"/>
          </a:p>
        </p:txBody>
      </p:sp>
      <p:sp>
        <p:nvSpPr>
          <p:cNvPr id="19" name="Shape 17"/>
          <p:cNvSpPr/>
          <p:nvPr/>
        </p:nvSpPr>
        <p:spPr>
          <a:xfrm>
            <a:off x="3200400" y="822960"/>
            <a:ext cx="2788920" cy="4023360"/>
          </a:xfrm>
          <a:prstGeom prst="rect">
            <a:avLst/>
          </a:prstGeom>
          <a:solidFill>
            <a:srgbClr val="4A148C"/>
          </a:solidFill>
          <a:ln w="19050">
            <a:solidFill>
              <a:srgbClr val="CE93D8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0" name="Text 18"/>
          <p:cNvSpPr/>
          <p:nvPr/>
        </p:nvSpPr>
        <p:spPr>
          <a:xfrm>
            <a:off x="3200400" y="841248"/>
            <a:ext cx="2788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SVM (RBF Kernel)</a:t>
            </a:r>
            <a:endParaRPr lang="en-US" sz="1200" dirty="0"/>
          </a:p>
        </p:txBody>
      </p:sp>
      <p:sp>
        <p:nvSpPr>
          <p:cNvPr id="21" name="Text 19"/>
          <p:cNvSpPr/>
          <p:nvPr/>
        </p:nvSpPr>
        <p:spPr>
          <a:xfrm>
            <a:off x="3291840" y="12344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E93D8"/>
                </a:solidFill>
              </a:rPr>
              <a:t>Hyperparameters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3291840" y="1463040"/>
            <a:ext cx="2606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E8EEF4"/>
                </a:solidFill>
              </a:rPr>
              <a:t>kernel = RBF</a:t>
            </a:r>
            <a:endParaRPr lang="en-US" sz="850" dirty="0"/>
          </a:p>
        </p:txBody>
      </p:sp>
      <p:sp>
        <p:nvSpPr>
          <p:cNvPr id="23" name="Text 21"/>
          <p:cNvSpPr/>
          <p:nvPr/>
        </p:nvSpPr>
        <p:spPr>
          <a:xfrm>
            <a:off x="3291840" y="1700784"/>
            <a:ext cx="2606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E8EEF4"/>
                </a:solidFill>
              </a:rPr>
              <a:t>C = 10</a:t>
            </a:r>
            <a:endParaRPr lang="en-US" sz="850" dirty="0"/>
          </a:p>
        </p:txBody>
      </p:sp>
      <p:sp>
        <p:nvSpPr>
          <p:cNvPr id="24" name="Text 22"/>
          <p:cNvSpPr/>
          <p:nvPr/>
        </p:nvSpPr>
        <p:spPr>
          <a:xfrm>
            <a:off x="3291840" y="1938528"/>
            <a:ext cx="2606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E8EEF4"/>
                </a:solidFill>
              </a:rPr>
              <a:t>gamma = scale</a:t>
            </a:r>
            <a:endParaRPr lang="en-US" sz="850" dirty="0"/>
          </a:p>
        </p:txBody>
      </p:sp>
      <p:sp>
        <p:nvSpPr>
          <p:cNvPr id="25" name="Text 23"/>
          <p:cNvSpPr/>
          <p:nvPr/>
        </p:nvSpPr>
        <p:spPr>
          <a:xfrm>
            <a:off x="3291840" y="2176272"/>
            <a:ext cx="2606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E8EEF4"/>
                </a:solidFill>
              </a:rPr>
              <a:t>StandardScaler pre-processing</a:t>
            </a:r>
            <a:endParaRPr lang="en-US" sz="850" dirty="0"/>
          </a:p>
        </p:txBody>
      </p:sp>
      <p:sp>
        <p:nvSpPr>
          <p:cNvPr id="26" name="Text 24"/>
          <p:cNvSpPr/>
          <p:nvPr/>
        </p:nvSpPr>
        <p:spPr>
          <a:xfrm>
            <a:off x="3291840" y="251460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9F0AE"/>
                </a:solidFill>
              </a:rPr>
              <a:t>✓ Strengths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3291840" y="2743200"/>
            <a:ext cx="2606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E8EEF4"/>
                </a:solidFill>
              </a:rPr>
              <a:t>Effective in high-dimensional spaces</a:t>
            </a:r>
            <a:endParaRPr lang="en-US" sz="850" dirty="0"/>
          </a:p>
        </p:txBody>
      </p:sp>
      <p:sp>
        <p:nvSpPr>
          <p:cNvPr id="28" name="Text 26"/>
          <p:cNvSpPr/>
          <p:nvPr/>
        </p:nvSpPr>
        <p:spPr>
          <a:xfrm>
            <a:off x="3291840" y="2980944"/>
            <a:ext cx="2606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E8EEF4"/>
                </a:solidFill>
              </a:rPr>
              <a:t>Strong generalisation (kernel trick)</a:t>
            </a:r>
            <a:endParaRPr lang="en-US" sz="850" dirty="0"/>
          </a:p>
        </p:txBody>
      </p:sp>
      <p:sp>
        <p:nvSpPr>
          <p:cNvPr id="29" name="Text 27"/>
          <p:cNvSpPr/>
          <p:nvPr/>
        </p:nvSpPr>
        <p:spPr>
          <a:xfrm>
            <a:off x="3291840" y="3218688"/>
            <a:ext cx="2606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E8EEF4"/>
                </a:solidFill>
              </a:rPr>
              <a:t>Works well with clear margins</a:t>
            </a:r>
            <a:endParaRPr lang="en-US" sz="850" dirty="0"/>
          </a:p>
        </p:txBody>
      </p:sp>
      <p:sp>
        <p:nvSpPr>
          <p:cNvPr id="30" name="Text 28"/>
          <p:cNvSpPr/>
          <p:nvPr/>
        </p:nvSpPr>
        <p:spPr>
          <a:xfrm>
            <a:off x="3291840" y="35204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9A9A"/>
                </a:solidFill>
              </a:rPr>
              <a:t>⚠ Limitations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291840" y="3749040"/>
            <a:ext cx="2606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E8EEF4"/>
                </a:solidFill>
              </a:rPr>
              <a:t>Slow training on large datasets</a:t>
            </a:r>
            <a:endParaRPr lang="en-US" sz="850" dirty="0"/>
          </a:p>
        </p:txBody>
      </p:sp>
      <p:sp>
        <p:nvSpPr>
          <p:cNvPr id="32" name="Text 30"/>
          <p:cNvSpPr/>
          <p:nvPr/>
        </p:nvSpPr>
        <p:spPr>
          <a:xfrm>
            <a:off x="3291840" y="3986784"/>
            <a:ext cx="2606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E8EEF4"/>
                </a:solidFill>
              </a:rPr>
              <a:t>No native probability output</a:t>
            </a:r>
            <a:endParaRPr lang="en-US" sz="850" dirty="0"/>
          </a:p>
        </p:txBody>
      </p:sp>
      <p:sp>
        <p:nvSpPr>
          <p:cNvPr id="33" name="Shape 31"/>
          <p:cNvSpPr/>
          <p:nvPr/>
        </p:nvSpPr>
        <p:spPr>
          <a:xfrm>
            <a:off x="6172200" y="822960"/>
            <a:ext cx="2788920" cy="4023360"/>
          </a:xfrm>
          <a:prstGeom prst="rect">
            <a:avLst/>
          </a:prstGeom>
          <a:solidFill>
            <a:srgbClr val="1B5E20"/>
          </a:solidFill>
          <a:ln w="19050">
            <a:solidFill>
              <a:srgbClr val="69F0AE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4" name="Text 32"/>
          <p:cNvSpPr/>
          <p:nvPr/>
        </p:nvSpPr>
        <p:spPr>
          <a:xfrm>
            <a:off x="6172200" y="841248"/>
            <a:ext cx="2788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FFFFFF"/>
                </a:solidFill>
              </a:rPr>
              <a:t>K-Nearest Neighbours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6263640" y="12344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9F0AE"/>
                </a:solidFill>
              </a:rPr>
              <a:t>Hyperparameters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6263640" y="1463040"/>
            <a:ext cx="2606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E8EEF4"/>
                </a:solidFill>
              </a:rPr>
              <a:t>n_neighbors = 7</a:t>
            </a:r>
            <a:endParaRPr lang="en-US" sz="850" dirty="0"/>
          </a:p>
        </p:txBody>
      </p:sp>
      <p:sp>
        <p:nvSpPr>
          <p:cNvPr id="37" name="Text 35"/>
          <p:cNvSpPr/>
          <p:nvPr/>
        </p:nvSpPr>
        <p:spPr>
          <a:xfrm>
            <a:off x="6263640" y="1700784"/>
            <a:ext cx="2606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E8EEF4"/>
                </a:solidFill>
              </a:rPr>
              <a:t>weights = distance</a:t>
            </a:r>
            <a:endParaRPr lang="en-US" sz="850" dirty="0"/>
          </a:p>
        </p:txBody>
      </p:sp>
      <p:sp>
        <p:nvSpPr>
          <p:cNvPr id="38" name="Text 36"/>
          <p:cNvSpPr/>
          <p:nvPr/>
        </p:nvSpPr>
        <p:spPr>
          <a:xfrm>
            <a:off x="6263640" y="1938528"/>
            <a:ext cx="2606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E8EEF4"/>
                </a:solidFill>
              </a:rPr>
              <a:t>StandardScaler pre-processing</a:t>
            </a:r>
            <a:endParaRPr lang="en-US" sz="850" dirty="0"/>
          </a:p>
        </p:txBody>
      </p:sp>
      <p:sp>
        <p:nvSpPr>
          <p:cNvPr id="39" name="Text 37"/>
          <p:cNvSpPr/>
          <p:nvPr/>
        </p:nvSpPr>
        <p:spPr>
          <a:xfrm>
            <a:off x="6263640" y="251460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69F0AE"/>
                </a:solidFill>
              </a:rPr>
              <a:t>✓ Strengths</a:t>
            </a:r>
            <a:endParaRPr lang="en-US" sz="900" dirty="0"/>
          </a:p>
        </p:txBody>
      </p:sp>
      <p:sp>
        <p:nvSpPr>
          <p:cNvPr id="40" name="Text 38"/>
          <p:cNvSpPr/>
          <p:nvPr/>
        </p:nvSpPr>
        <p:spPr>
          <a:xfrm>
            <a:off x="6263640" y="2743200"/>
            <a:ext cx="2606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E8EEF4"/>
                </a:solidFill>
              </a:rPr>
              <a:t>Non-parametric, no training phase</a:t>
            </a:r>
            <a:endParaRPr lang="en-US" sz="850" dirty="0"/>
          </a:p>
        </p:txBody>
      </p:sp>
      <p:sp>
        <p:nvSpPr>
          <p:cNvPr id="41" name="Text 39"/>
          <p:cNvSpPr/>
          <p:nvPr/>
        </p:nvSpPr>
        <p:spPr>
          <a:xfrm>
            <a:off x="6263640" y="2980944"/>
            <a:ext cx="2606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E8EEF4"/>
                </a:solidFill>
              </a:rPr>
              <a:t>Naturally multi-class</a:t>
            </a:r>
            <a:endParaRPr lang="en-US" sz="850" dirty="0"/>
          </a:p>
        </p:txBody>
      </p:sp>
      <p:sp>
        <p:nvSpPr>
          <p:cNvPr id="42" name="Text 40"/>
          <p:cNvSpPr/>
          <p:nvPr/>
        </p:nvSpPr>
        <p:spPr>
          <a:xfrm>
            <a:off x="6263640" y="3218688"/>
            <a:ext cx="2606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E8EEF4"/>
                </a:solidFill>
              </a:rPr>
              <a:t>Interpretable predictions</a:t>
            </a:r>
            <a:endParaRPr lang="en-US" sz="850" dirty="0"/>
          </a:p>
        </p:txBody>
      </p:sp>
      <p:sp>
        <p:nvSpPr>
          <p:cNvPr id="43" name="Text 41"/>
          <p:cNvSpPr/>
          <p:nvPr/>
        </p:nvSpPr>
        <p:spPr>
          <a:xfrm>
            <a:off x="6263640" y="3520440"/>
            <a:ext cx="260604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F9A9A"/>
                </a:solidFill>
              </a:rPr>
              <a:t>⚠ Limitations</a:t>
            </a:r>
            <a:endParaRPr lang="en-US" sz="900" dirty="0"/>
          </a:p>
        </p:txBody>
      </p:sp>
      <p:sp>
        <p:nvSpPr>
          <p:cNvPr id="44" name="Text 42"/>
          <p:cNvSpPr/>
          <p:nvPr/>
        </p:nvSpPr>
        <p:spPr>
          <a:xfrm>
            <a:off x="6263640" y="3749040"/>
            <a:ext cx="2606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E8EEF4"/>
                </a:solidFill>
              </a:rPr>
              <a:t>Slow at inference (all training distances)</a:t>
            </a:r>
            <a:endParaRPr lang="en-US" sz="850" dirty="0"/>
          </a:p>
        </p:txBody>
      </p:sp>
      <p:sp>
        <p:nvSpPr>
          <p:cNvPr id="45" name="Text 43"/>
          <p:cNvSpPr/>
          <p:nvPr/>
        </p:nvSpPr>
        <p:spPr>
          <a:xfrm>
            <a:off x="6263640" y="3986784"/>
            <a:ext cx="260604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850" dirty="0">
                <a:solidFill>
                  <a:srgbClr val="E8EEF4"/>
                </a:solidFill>
              </a:rPr>
              <a:t>Sensitive to feature scaling</a:t>
            </a:r>
            <a:endParaRPr lang="en-US" sz="850" dirty="0"/>
          </a:p>
        </p:txBody>
      </p:sp>
      <p:sp>
        <p:nvSpPr>
          <p:cNvPr id="46" name="Text 44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31D38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A7C7"/>
                </a:solidFill>
              </a:rPr>
              <a:t>Object Boundary Network (OBN) — Material Classification via Ultrasound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Model Performance — Overall Accuracy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43891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A7C7"/>
                </a:solidFill>
              </a:rPr>
              <a:t>Day 1 training vs Day 2 cross-session evaluation</a:t>
            </a:r>
            <a:endParaRPr lang="en-US" sz="1000" dirty="0"/>
          </a:p>
        </p:txBody>
      </p:sp>
      <p:pic>
        <p:nvPicPr>
          <p:cNvPr id="5" name="Image 0" descr="/home/claude/fig1_overall_accuracy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713232"/>
            <a:ext cx="8595360" cy="2788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3593592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EEF4"/>
                </a:solidFill>
              </a:rPr>
              <a:t>RF dominates Day 1 with 82.4% — large advantage over SVM/KNN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365760" y="384048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EEF4"/>
                </a:solidFill>
              </a:rPr>
              <a:t>All models degrade heavily on Day 2 full range (~35%) — temporal drift is significant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365760" y="4087368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EEF4"/>
                </a:solidFill>
              </a:rPr>
              <a:t>4-distance RF model recovers to 51.8% by limiting to well-characterised distances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365760" y="4334256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EEF4"/>
                </a:solidFill>
              </a:rPr>
              <a:t>SVM and KNN show less benefit from 4-distance restriction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31D38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A7C7"/>
                </a:solidFill>
              </a:rPr>
              <a:t>Object Boundary Network (OBN) — Material Classification via Ultrasound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Accuracy vs. Distance — Full Range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43891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A7C7"/>
                </a:solidFill>
              </a:rPr>
              <a:t>How model performance varies across the 26 measurement distances on Day 2 (5–30 cm)</a:t>
            </a:r>
            <a:endParaRPr lang="en-US" sz="1000" dirty="0"/>
          </a:p>
        </p:txBody>
      </p:sp>
      <p:pic>
        <p:nvPicPr>
          <p:cNvPr id="5" name="Image 0" descr="/home/claude/fig2_accuracy_vs_distance_fullrange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713232"/>
            <a:ext cx="8595360" cy="2788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3593592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EEF4"/>
                </a:solidFill>
              </a:rPr>
              <a:t>RF maintains highest accuracy at most distances on Day 2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365760" y="384048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EEF4"/>
                </a:solidFill>
              </a:rPr>
              <a:t>Performance is highly variable and distance-dependent for all models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365760" y="4087368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EEF4"/>
                </a:solidFill>
              </a:rPr>
              <a:t>Middle range (15–20 cm) generally shows better classification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365760" y="4334256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EEF4"/>
                </a:solidFill>
              </a:rPr>
              <a:t>Short distances (≤10 cm) and very long distances (≥25 cm) tend to be harder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31D38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A7C7"/>
                </a:solidFill>
              </a:rPr>
              <a:t>Object Boundary Network (OBN) — Material Classification via Ultrasound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4-Distance Subset Analysis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43891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A7C7"/>
                </a:solidFill>
              </a:rPr>
              <a:t>Restricted training at 10, 15, 20, 25 cm — Full-Range vs 4-dist model comparison on Day 2</a:t>
            </a:r>
            <a:endParaRPr lang="en-US" sz="1000" dirty="0"/>
          </a:p>
        </p:txBody>
      </p:sp>
      <p:pic>
        <p:nvPicPr>
          <p:cNvPr id="5" name="Image 0" descr="/home/claude/fig3_accuracy_4dist_compariso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713232"/>
            <a:ext cx="8595360" cy="2788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3593592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EEF4"/>
                </a:solidFill>
              </a:rPr>
              <a:t>RF 4-dist model: 51.8% on 4-dist Day 2 — significant +16 pp gain over full-range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365760" y="384048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EEF4"/>
                </a:solidFill>
              </a:rPr>
              <a:t>Restricting distances reduces noise from outlier positions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365760" y="4087368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EEF4"/>
                </a:solidFill>
              </a:rPr>
              <a:t>SVM/KNN do not benefit as much — limited feature separability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365760" y="4334256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EEF4"/>
                </a:solidFill>
              </a:rPr>
              <a:t>Distance-selective training is a viable strategy to mitigate temporal drift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31D38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A7C7"/>
                </a:solidFill>
              </a:rPr>
              <a:t>Object Boundary Network (OBN) — Material Classification via Ultrasound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Confusion Matrices — Day 2 Evaluation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43891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A7C7"/>
                </a:solidFill>
              </a:rPr>
              <a:t>Which classes are misclassified and why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274320" y="713232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26C6DA"/>
                </a:solidFill>
              </a:rPr>
              <a:t>Full Range — Day 2</a:t>
            </a:r>
            <a:endParaRPr lang="en-US" sz="1000" dirty="0"/>
          </a:p>
        </p:txBody>
      </p:sp>
      <p:pic>
        <p:nvPicPr>
          <p:cNvPr id="6" name="Image 0" descr="/home/claude/fig4_confusion_fullrange_day2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914400"/>
            <a:ext cx="4114800" cy="228600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4663440" y="713232"/>
            <a:ext cx="41148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D54F"/>
                </a:solidFill>
              </a:rPr>
              <a:t>4-Distance Model — Day 2</a:t>
            </a:r>
            <a:endParaRPr lang="en-US" sz="1000" dirty="0"/>
          </a:p>
        </p:txBody>
      </p:sp>
      <p:pic>
        <p:nvPicPr>
          <p:cNvPr id="8" name="Image 1" descr="/home/claude/fig5_confusion_4dist_day2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4663440" y="914400"/>
            <a:ext cx="4114800" cy="2286000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365760" y="3337560"/>
            <a:ext cx="8412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EEF4"/>
                </a:solidFill>
              </a:rPr>
              <a:t>Steel best classified by RF 4-dist (70%) — high acoustic impedance contrast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365760" y="3611880"/>
            <a:ext cx="8412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EEF4"/>
                </a:solidFill>
              </a:rPr>
              <a:t>PB w/o foam most confused — hollow echo varies with distance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365760" y="3886200"/>
            <a:ext cx="8412480" cy="2468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EEF4"/>
                </a:solidFill>
              </a:rPr>
              <a:t>4-dist RF shows clear diagonal dominance vs diffuse full-range patterns</a:t>
            </a:r>
            <a:endParaRPr lang="en-US" sz="950" dirty="0"/>
          </a:p>
        </p:txBody>
      </p:sp>
      <p:sp>
        <p:nvSpPr>
          <p:cNvPr id="12" name="Text 8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31D38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A7C7"/>
                </a:solidFill>
              </a:rPr>
              <a:t>Object Boundary Network (OBN) — Material Classification via Ultrasound</a:t>
            </a:r>
            <a:endParaRPr lang="en-US" sz="8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Temporal Drift Analysis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43891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A7C7"/>
                </a:solidFill>
              </a:rPr>
              <a:t>Signal characteristics shift between recording sessions</a:t>
            </a:r>
            <a:endParaRPr lang="en-US" sz="1000" dirty="0"/>
          </a:p>
        </p:txBody>
      </p:sp>
      <p:pic>
        <p:nvPicPr>
          <p:cNvPr id="5" name="Image 0" descr="/home/claude/fig6_temporal_drift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713232"/>
            <a:ext cx="8595360" cy="2788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3593592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EEF4"/>
                </a:solidFill>
              </a:rPr>
              <a:t>Systematic shift in signal statistics between Day 1 and Day 2 due to environmental changes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365760" y="384048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EEF4"/>
                </a:solidFill>
              </a:rPr>
              <a:t>RF drops from 82.4% (Day 1) to 35.3% (Day 2 full range) — a loss of ~47 pp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365760" y="4087368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EEF4"/>
                </a:solidFill>
              </a:rPr>
              <a:t>Mitigation: restrict training distances, domain adaptation, or periodic re-training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365760" y="4334256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EEF4"/>
                </a:solidFill>
              </a:rPr>
              <a:t>4-dist RF partially recovers to 51.8%, confirming curated data helps cross-session robustness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31D38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A7C7"/>
                </a:solidFill>
              </a:rPr>
              <a:t>Object Boundary Network (OBN) — Material Classification via Ultrasound</a:t>
            </a:r>
            <a:endParaRPr lang="en-US" sz="8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F1-Score Heatmap by Class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43891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A7C7"/>
                </a:solidFill>
              </a:rPr>
              <a:t>Per-class performance reveals which materials are hardest to identify (Day 2)</a:t>
            </a:r>
            <a:endParaRPr lang="en-US" sz="1000" dirty="0"/>
          </a:p>
        </p:txBody>
      </p:sp>
      <p:pic>
        <p:nvPicPr>
          <p:cNvPr id="5" name="Image 0" descr="/home/claude/fig7_f1_heatmap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713232"/>
            <a:ext cx="8595360" cy="2788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3593592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EEF4"/>
                </a:solidFill>
              </a:rPr>
              <a:t>RF 4-dist achieves F1=0.76 for Steel — highest score across all configurations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365760" y="384048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EEF4"/>
                </a:solidFill>
              </a:rPr>
              <a:t>PB w/o foam is consistently the hardest class (F1 as low as 0.11 in 4-dist SVM/KNN)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365760" y="4087368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EEF4"/>
                </a:solidFill>
              </a:rPr>
              <a:t>Steel is most reliably classified; foam-padded plastic box is hardest across all models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31D38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A7C7"/>
                </a:solidFill>
              </a:rPr>
              <a:t>Object Boundary Network (OBN) — Material Classification via Ultrasound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Per-Class Precision, Recall &amp; F1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43891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A7C7"/>
                </a:solidFill>
              </a:rPr>
              <a:t>Detailed breakdown for all 6 model configurations on Day 2 ★ NOT IN ORIGINAL PRESENTATION</a:t>
            </a:r>
            <a:endParaRPr lang="en-US" sz="1000" dirty="0"/>
          </a:p>
        </p:txBody>
      </p:sp>
      <p:pic>
        <p:nvPicPr>
          <p:cNvPr id="5" name="Image 0" descr="/home/claude/fig8_precision_recall_per_class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713232"/>
            <a:ext cx="8595360" cy="2788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3593592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EEF4"/>
                </a:solidFill>
              </a:rPr>
              <a:t>RF 4-dist achieves best Steel precision (82%) and recall (70%) — strong class-specific detection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365760" y="384048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EEF4"/>
                </a:solidFill>
              </a:rPr>
              <a:t>PB w/o foam suffers low recall in 4-dist models (SVM: 8%, KNN: 8%) — many missed detections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365760" y="4087368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EEF4"/>
                </a:solidFill>
              </a:rPr>
              <a:t>PB w/ foam: balanced precision/recall in full-range models; recall drops sharply in 4-dist SVM/KNN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365760" y="4334256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EEF4"/>
                </a:solidFill>
              </a:rPr>
              <a:t>Full-range models show flatter, more balanced profiles — no single class dominates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31D38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A7C7"/>
                </a:solidFill>
              </a:rPr>
              <a:t>Object Boundary Network (OBN) — Material Classification via Ultrasound</a:t>
            </a:r>
            <a:endParaRPr lang="en-US" sz="8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Model Confidence Analysis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43891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A7C7"/>
                </a:solidFill>
              </a:rPr>
              <a:t>Correct vs. Incorrect prediction confidence — Day 2 full range ★ NOT IN ORIGINAL PRESENTATION</a:t>
            </a:r>
            <a:endParaRPr lang="en-US" sz="1000" dirty="0"/>
          </a:p>
        </p:txBody>
      </p:sp>
      <p:pic>
        <p:nvPicPr>
          <p:cNvPr id="5" name="Image 0" descr="/home/claude/fig9_confidence_distribution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713232"/>
            <a:ext cx="8595360" cy="2788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3593592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EEF4"/>
                </a:solidFill>
              </a:rPr>
              <a:t>RF: correct predictions (mean=0.56) only slightly more confident than incorrect (mean=0.51)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365760" y="384048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EEF4"/>
                </a:solidFill>
              </a:rPr>
              <a:t>KNN: correct predictions (mean=0.65) show better separation from incorrect (mean=0.56)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365760" y="4087368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EEF4"/>
                </a:solidFill>
              </a:rPr>
              <a:t>Models are often near-equally confident in wrong predictions — limited self-awareness of errors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365760" y="4334256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EEF4"/>
                </a:solidFill>
              </a:rPr>
              <a:t>KNN confidence by class: Laptop correct predictions hit 0.80 mean — most distinctive signal class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31D38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A7C7"/>
                </a:solidFill>
              </a:rPr>
              <a:t>Object Boundary Network (OBN) — Material Classification via Ultrasound</a:t>
            </a:r>
            <a:endParaRPr lang="en-US" sz="8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Per-File Classification (Majority Vote)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43891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A7C7"/>
                </a:solidFill>
              </a:rPr>
              <a:t>Aggregating per-measurement votes per recording — Day 2 full range ★ NOT IN ORIGINAL PRESENTATION</a:t>
            </a:r>
            <a:endParaRPr lang="en-US" sz="1000" dirty="0"/>
          </a:p>
        </p:txBody>
      </p:sp>
      <p:pic>
        <p:nvPicPr>
          <p:cNvPr id="5" name="Image 0" descr="/home/claude/fig10_per_file_accuracy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" y="713232"/>
            <a:ext cx="8595360" cy="278892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365760" y="3593592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EEF4"/>
                </a:solidFill>
              </a:rPr>
              <a:t>Majority vote improves RF: 35.3% → 39.4%; SVM: 31.3% → 32.7%; KNN: 32.3% → 33.7%</a:t>
            </a:r>
            <a:endParaRPr lang="en-US" sz="950" dirty="0"/>
          </a:p>
        </p:txBody>
      </p:sp>
      <p:sp>
        <p:nvSpPr>
          <p:cNvPr id="7" name="Text 4"/>
          <p:cNvSpPr/>
          <p:nvPr/>
        </p:nvSpPr>
        <p:spPr>
          <a:xfrm>
            <a:off x="365760" y="3840480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EEF4"/>
                </a:solidFill>
              </a:rPr>
              <a:t>Aggregating predictions per file provides marginal but consistent accuracy gains</a:t>
            </a:r>
            <a:endParaRPr lang="en-US" sz="950" dirty="0"/>
          </a:p>
        </p:txBody>
      </p:sp>
      <p:sp>
        <p:nvSpPr>
          <p:cNvPr id="8" name="Text 5"/>
          <p:cNvSpPr/>
          <p:nvPr/>
        </p:nvSpPr>
        <p:spPr>
          <a:xfrm>
            <a:off x="365760" y="4087368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EEF4"/>
                </a:solidFill>
              </a:rPr>
              <a:t>SVM achieves 54% per-file accuracy on PB w/ foam — best single-class result in majority vote</a:t>
            </a:r>
            <a:endParaRPr lang="en-US" sz="950" dirty="0"/>
          </a:p>
        </p:txBody>
      </p:sp>
      <p:sp>
        <p:nvSpPr>
          <p:cNvPr id="9" name="Text 6"/>
          <p:cNvSpPr/>
          <p:nvPr/>
        </p:nvSpPr>
        <p:spPr>
          <a:xfrm>
            <a:off x="365760" y="4334256"/>
            <a:ext cx="841248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EEF4"/>
                </a:solidFill>
              </a:rPr>
              <a:t>Steel and PB w/o foam remain the hardest classes even with majority voting aggregation</a:t>
            </a:r>
            <a:endParaRPr lang="en-US" sz="950" dirty="0"/>
          </a:p>
        </p:txBody>
      </p:sp>
      <p:sp>
        <p:nvSpPr>
          <p:cNvPr id="10" name="Text 7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31D38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A7C7"/>
                </a:solidFill>
              </a:rPr>
              <a:t>Object Boundary Network (OBN) — Material Classification via Ultrasound</a:t>
            </a:r>
            <a:endParaRPr lang="en-US" sz="8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Results Summary</a:t>
            </a:r>
            <a:endParaRPr lang="en-US" sz="2000" dirty="0"/>
          </a:p>
        </p:txBody>
      </p:sp>
      <p:sp>
        <p:nvSpPr>
          <p:cNvPr id="4" name="Text 2"/>
          <p:cNvSpPr/>
          <p:nvPr/>
        </p:nvSpPr>
        <p:spPr>
          <a:xfrm>
            <a:off x="365760" y="438912"/>
            <a:ext cx="822960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8BA7C7"/>
                </a:solidFill>
              </a:rPr>
              <a:t>Comprehensive comparison of all model–evaluation configurations</a:t>
            </a:r>
            <a:endParaRPr lang="en-US" sz="1000" dirty="0"/>
          </a:p>
        </p:txBody>
      </p:sp>
      <p:graphicFrame>
        <p:nvGraphicFramePr>
          <p:cNvPr id="1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4368322"/>
              </p:ext>
            </p:extLst>
          </p:nvPr>
        </p:nvGraphicFramePr>
        <p:xfrm>
          <a:off x="274320" y="713232"/>
          <a:ext cx="8595360" cy="3621024"/>
        </p:xfrm>
        <a:graphic>
          <a:graphicData uri="http://schemas.openxmlformats.org/drawingml/2006/table">
            <a:tbl>
              <a:tblPr/>
              <a:tblGrid>
                <a:gridCol w="21488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14884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Configuration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Model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Accuracy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05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Notes</a:t>
                      </a:r>
                      <a:endParaRPr lang="en-US" sz="900" dirty="0"/>
                    </a:p>
                  </a:txBody>
                  <a:tcPr>
                    <a:lnL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D205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chemeClr val="bg1"/>
                          </a:solidFill>
                        </a:rPr>
                        <a:t>Day 1 (train=test)</a:t>
                      </a:r>
                    </a:p>
                  </a:txBody>
                  <a:tcPr>
                    <a:lnL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chemeClr val="bg1"/>
                          </a:solidFill>
                        </a:rPr>
                        <a:t>Random Forest</a:t>
                      </a:r>
                    </a:p>
                  </a:txBody>
                  <a:tcPr>
                    <a:lnL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chemeClr val="bg1"/>
                          </a:solidFill>
                        </a:rPr>
                        <a:t>82.4%</a:t>
                      </a:r>
                      <a:endParaRPr lang="en-US" sz="9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chemeClr val="bg1"/>
                          </a:solidFill>
                        </a:rPr>
                        <a:t>Strong in-session performance</a:t>
                      </a:r>
                    </a:p>
                  </a:txBody>
                  <a:tcPr>
                    <a:lnL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chemeClr val="bg1"/>
                          </a:solidFill>
                        </a:rPr>
                        <a:t>Day 1 (train=test)</a:t>
                      </a:r>
                    </a:p>
                  </a:txBody>
                  <a:tcPr>
                    <a:lnL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chemeClr val="bg1"/>
                          </a:solidFill>
                        </a:rPr>
                        <a:t>SVM</a:t>
                      </a:r>
                    </a:p>
                  </a:txBody>
                  <a:tcPr>
                    <a:lnL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chemeClr val="bg1"/>
                          </a:solidFill>
                        </a:rPr>
                        <a:t>64.8%</a:t>
                      </a:r>
                    </a:p>
                  </a:txBody>
                  <a:tcPr>
                    <a:lnL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chemeClr val="bg1"/>
                          </a:solidFill>
                        </a:rPr>
                        <a:t>Competitive but lower than RF</a:t>
                      </a:r>
                    </a:p>
                  </a:txBody>
                  <a:tcPr>
                    <a:lnL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chemeClr val="bg1"/>
                          </a:solidFill>
                        </a:rPr>
                        <a:t>Day 1 (train=test)</a:t>
                      </a:r>
                    </a:p>
                  </a:txBody>
                  <a:tcPr>
                    <a:lnL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chemeClr val="bg1"/>
                          </a:solidFill>
                        </a:rPr>
                        <a:t>KNN</a:t>
                      </a:r>
                    </a:p>
                  </a:txBody>
                  <a:tcPr>
                    <a:lnL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chemeClr val="bg1"/>
                          </a:solidFill>
                        </a:rPr>
                        <a:t>65.7%</a:t>
                      </a:r>
                    </a:p>
                  </a:txBody>
                  <a:tcPr>
                    <a:lnL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chemeClr val="bg1"/>
                          </a:solidFill>
                        </a:rPr>
                        <a:t>Similar to SVM</a:t>
                      </a:r>
                    </a:p>
                  </a:txBody>
                  <a:tcPr>
                    <a:lnL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chemeClr val="bg1"/>
                          </a:solidFill>
                        </a:rPr>
                        <a:t>Day 2 Full (full model)</a:t>
                      </a:r>
                    </a:p>
                  </a:txBody>
                  <a:tcPr>
                    <a:lnL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chemeClr val="bg1"/>
                          </a:solidFill>
                        </a:rPr>
                        <a:t>Random Forest</a:t>
                      </a:r>
                    </a:p>
                  </a:txBody>
                  <a:tcPr>
                    <a:lnL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chemeClr val="bg1"/>
                          </a:solidFill>
                        </a:rPr>
                        <a:t>35.3%</a:t>
                      </a:r>
                    </a:p>
                  </a:txBody>
                  <a:tcPr>
                    <a:lnL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chemeClr val="bg1"/>
                          </a:solidFill>
                        </a:rPr>
                        <a:t>Significant drift drop</a:t>
                      </a:r>
                    </a:p>
                  </a:txBody>
                  <a:tcPr>
                    <a:lnL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chemeClr val="bg1"/>
                          </a:solidFill>
                        </a:rPr>
                        <a:t>Day 2 Full (full model)</a:t>
                      </a:r>
                    </a:p>
                  </a:txBody>
                  <a:tcPr>
                    <a:lnL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chemeClr val="bg1"/>
                          </a:solidFill>
                        </a:rPr>
                        <a:t>SVM</a:t>
                      </a:r>
                    </a:p>
                  </a:txBody>
                  <a:tcPr>
                    <a:lnL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chemeClr val="bg1"/>
                          </a:solidFill>
                        </a:rPr>
                        <a:t>31.3%</a:t>
                      </a:r>
                    </a:p>
                  </a:txBody>
                  <a:tcPr>
                    <a:lnL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chemeClr val="bg1"/>
                          </a:solidFill>
                        </a:rPr>
                        <a:t>Near-chance performance</a:t>
                      </a:r>
                    </a:p>
                  </a:txBody>
                  <a:tcPr>
                    <a:lnL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chemeClr val="bg1"/>
                          </a:solidFill>
                        </a:rPr>
                        <a:t>Day 2 Full (full model)</a:t>
                      </a:r>
                    </a:p>
                  </a:txBody>
                  <a:tcPr>
                    <a:lnL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chemeClr val="bg1"/>
                          </a:solidFill>
                        </a:rPr>
                        <a:t>KNN</a:t>
                      </a:r>
                    </a:p>
                  </a:txBody>
                  <a:tcPr>
                    <a:lnL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chemeClr val="bg1"/>
                          </a:solidFill>
                        </a:rPr>
                        <a:t>32.3%</a:t>
                      </a:r>
                    </a:p>
                  </a:txBody>
                  <a:tcPr>
                    <a:lnL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chemeClr val="bg1"/>
                          </a:solidFill>
                        </a:rPr>
                        <a:t>Near-chance performance</a:t>
                      </a:r>
                    </a:p>
                  </a:txBody>
                  <a:tcPr>
                    <a:lnL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chemeClr val="bg1"/>
                          </a:solidFill>
                        </a:rPr>
                        <a:t>Day 2 4-dist (full model)</a:t>
                      </a:r>
                    </a:p>
                  </a:txBody>
                  <a:tcPr>
                    <a:lnL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chemeClr val="bg1"/>
                          </a:solidFill>
                        </a:rPr>
                        <a:t>Random Forest</a:t>
                      </a:r>
                    </a:p>
                  </a:txBody>
                  <a:tcPr>
                    <a:lnL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chemeClr val="bg1"/>
                          </a:solidFill>
                        </a:rPr>
                        <a:t>37.6%</a:t>
                      </a:r>
                    </a:p>
                  </a:txBody>
                  <a:tcPr>
                    <a:lnL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chemeClr val="bg1"/>
                          </a:solidFill>
                        </a:rPr>
                        <a:t>Slight improvement</a:t>
                      </a:r>
                    </a:p>
                  </a:txBody>
                  <a:tcPr>
                    <a:lnL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chemeClr val="bg1"/>
                          </a:solidFill>
                        </a:rPr>
                        <a:t>Day 2 4-dist (4d model)</a:t>
                      </a:r>
                    </a:p>
                  </a:txBody>
                  <a:tcPr>
                    <a:lnL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chemeClr val="bg1"/>
                          </a:solidFill>
                        </a:rPr>
                        <a:t>Random Forest</a:t>
                      </a:r>
                      <a:endParaRPr lang="en-US" sz="9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chemeClr val="bg1"/>
                          </a:solidFill>
                        </a:rPr>
                        <a:t>51.8% ✓</a:t>
                      </a:r>
                      <a:endParaRPr lang="en-US" sz="9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b="1" dirty="0">
                          <a:solidFill>
                            <a:schemeClr val="bg1"/>
                          </a:solidFill>
                        </a:rPr>
                        <a:t>Best cross-session result</a:t>
                      </a:r>
                      <a:endParaRPr lang="en-US" sz="900" dirty="0">
                        <a:solidFill>
                          <a:schemeClr val="bg1"/>
                        </a:solidFill>
                      </a:endParaRPr>
                    </a:p>
                  </a:txBody>
                  <a:tcPr>
                    <a:lnL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chemeClr val="bg1"/>
                          </a:solidFill>
                        </a:rPr>
                        <a:t>Day 2 4-dist (4d model)</a:t>
                      </a:r>
                    </a:p>
                  </a:txBody>
                  <a:tcPr>
                    <a:lnL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chemeClr val="bg1"/>
                          </a:solidFill>
                        </a:rPr>
                        <a:t>SVM</a:t>
                      </a:r>
                    </a:p>
                  </a:txBody>
                  <a:tcPr>
                    <a:lnL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chemeClr val="bg1"/>
                          </a:solidFill>
                        </a:rPr>
                        <a:t>30.6%</a:t>
                      </a:r>
                    </a:p>
                  </a:txBody>
                  <a:tcPr>
                    <a:lnL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chemeClr val="bg1"/>
                          </a:solidFill>
                        </a:rPr>
                        <a:t>No improvement with 4d model</a:t>
                      </a:r>
                    </a:p>
                  </a:txBody>
                  <a:tcPr>
                    <a:lnL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29184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chemeClr val="bg1"/>
                          </a:solidFill>
                        </a:rPr>
                        <a:t>Day 2 4-dist (4d model)</a:t>
                      </a:r>
                    </a:p>
                  </a:txBody>
                  <a:tcPr>
                    <a:lnL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chemeClr val="bg1"/>
                          </a:solidFill>
                        </a:rPr>
                        <a:t>KNN</a:t>
                      </a:r>
                    </a:p>
                  </a:txBody>
                  <a:tcPr>
                    <a:lnL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chemeClr val="bg1"/>
                          </a:solidFill>
                        </a:rPr>
                        <a:t>35.3%</a:t>
                      </a:r>
                    </a:p>
                  </a:txBody>
                  <a:tcPr>
                    <a:lnL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900" dirty="0">
                          <a:solidFill>
                            <a:schemeClr val="bg1"/>
                          </a:solidFill>
                        </a:rPr>
                        <a:t>Minor improvement</a:t>
                      </a:r>
                    </a:p>
                  </a:txBody>
                  <a:tcPr>
                    <a:lnL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2D407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31D38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A7C7"/>
                </a:solidFill>
              </a:rPr>
              <a:t>Object Boundary Network (OBN) — Material Classification via Ultrasound</a:t>
            </a:r>
            <a:endParaRPr lang="en-US" sz="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1A274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3" name="Text 1"/>
          <p:cNvSpPr/>
          <p:nvPr/>
        </p:nvSpPr>
        <p:spPr>
          <a:xfrm>
            <a:off x="365760" y="109728"/>
            <a:ext cx="8229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FFFFFF"/>
                </a:solidFill>
              </a:rPr>
              <a:t>Conclusions &amp; Future Work</a:t>
            </a:r>
            <a:endParaRPr lang="en-US" sz="2400" dirty="0"/>
          </a:p>
        </p:txBody>
      </p:sp>
      <p:sp>
        <p:nvSpPr>
          <p:cNvPr id="4" name="Shape 2"/>
          <p:cNvSpPr/>
          <p:nvPr/>
        </p:nvSpPr>
        <p:spPr>
          <a:xfrm>
            <a:off x="274320" y="548640"/>
            <a:ext cx="1965960" cy="777240"/>
          </a:xfrm>
          <a:prstGeom prst="rect">
            <a:avLst/>
          </a:prstGeom>
          <a:solidFill>
            <a:srgbClr val="243058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5" name="Text 3"/>
          <p:cNvSpPr/>
          <p:nvPr/>
        </p:nvSpPr>
        <p:spPr>
          <a:xfrm>
            <a:off x="274320" y="566928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FC3F7"/>
                </a:solidFill>
              </a:rPr>
              <a:t>82.4%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274320" y="91440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A7C7"/>
                </a:solidFill>
              </a:rPr>
              <a:t>Best Day 1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8BA7C7"/>
                </a:solidFill>
              </a:rPr>
              <a:t>Accuracy (RF)</a:t>
            </a:r>
            <a:endParaRPr lang="en-US" sz="800" dirty="0"/>
          </a:p>
        </p:txBody>
      </p:sp>
      <p:sp>
        <p:nvSpPr>
          <p:cNvPr id="7" name="Shape 5"/>
          <p:cNvSpPr/>
          <p:nvPr/>
        </p:nvSpPr>
        <p:spPr>
          <a:xfrm>
            <a:off x="2450592" y="548640"/>
            <a:ext cx="1965960" cy="777240"/>
          </a:xfrm>
          <a:prstGeom prst="rect">
            <a:avLst/>
          </a:prstGeom>
          <a:solidFill>
            <a:srgbClr val="243058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8" name="Text 6"/>
          <p:cNvSpPr/>
          <p:nvPr/>
        </p:nvSpPr>
        <p:spPr>
          <a:xfrm>
            <a:off x="2450592" y="566928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FC3F7"/>
                </a:solidFill>
              </a:rPr>
              <a:t>51.8%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2450592" y="91440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A7C7"/>
                </a:solidFill>
              </a:rPr>
              <a:t>Best Day 2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8BA7C7"/>
                </a:solidFill>
              </a:rPr>
              <a:t>Accuracy (RF 4d)</a:t>
            </a:r>
            <a:endParaRPr lang="en-US" sz="800" dirty="0"/>
          </a:p>
        </p:txBody>
      </p:sp>
      <p:sp>
        <p:nvSpPr>
          <p:cNvPr id="10" name="Shape 8"/>
          <p:cNvSpPr/>
          <p:nvPr/>
        </p:nvSpPr>
        <p:spPr>
          <a:xfrm>
            <a:off x="4626864" y="548640"/>
            <a:ext cx="1965960" cy="777240"/>
          </a:xfrm>
          <a:prstGeom prst="rect">
            <a:avLst/>
          </a:prstGeom>
          <a:solidFill>
            <a:srgbClr val="243058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1" name="Text 9"/>
          <p:cNvSpPr/>
          <p:nvPr/>
        </p:nvSpPr>
        <p:spPr>
          <a:xfrm>
            <a:off x="4626864" y="566928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FC3F7"/>
                </a:solidFill>
              </a:rPr>
              <a:t>4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4626864" y="91440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A7C7"/>
                </a:solidFill>
              </a:rPr>
              <a:t>Materials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8BA7C7"/>
                </a:solidFill>
              </a:rPr>
              <a:t>Classified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6803136" y="548640"/>
            <a:ext cx="1965960" cy="777240"/>
          </a:xfrm>
          <a:prstGeom prst="rect">
            <a:avLst/>
          </a:prstGeom>
          <a:solidFill>
            <a:srgbClr val="243058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4" name="Text 12"/>
          <p:cNvSpPr/>
          <p:nvPr/>
        </p:nvSpPr>
        <p:spPr>
          <a:xfrm>
            <a:off x="6803136" y="566928"/>
            <a:ext cx="19659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4FC3F7"/>
                </a:solidFill>
              </a:rPr>
              <a:t>15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6803136" y="914400"/>
            <a:ext cx="196596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A7C7"/>
                </a:solidFill>
              </a:rPr>
              <a:t>Features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8BA7C7"/>
                </a:solidFill>
              </a:rPr>
              <a:t>Extracted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274320" y="1417320"/>
            <a:ext cx="4114800" cy="256032"/>
          </a:xfrm>
          <a:prstGeom prst="rect">
            <a:avLst/>
          </a:prstGeom>
          <a:solidFill>
            <a:srgbClr val="4FC3F7"/>
          </a:solidFill>
          <a:ln w="12700">
            <a:solidFill>
              <a:srgbClr val="4FC3F7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17" name="Text 15"/>
          <p:cNvSpPr/>
          <p:nvPr/>
        </p:nvSpPr>
        <p:spPr>
          <a:xfrm>
            <a:off x="365760" y="1435608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</a:rPr>
              <a:t>Key Findings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5760" y="170992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EEF4"/>
                </a:solidFill>
              </a:rPr>
              <a:t>Random Forest (82.4%) outperforms SVM (64.8%) and KNN (65.7%) on Day 1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365760" y="2020824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EEF4"/>
                </a:solidFill>
              </a:rPr>
              <a:t>Cross-session performance degrades substantially — temporal drift is a critical challenge</a:t>
            </a:r>
            <a:endParaRPr lang="en-US" sz="950" dirty="0"/>
          </a:p>
        </p:txBody>
      </p:sp>
      <p:sp>
        <p:nvSpPr>
          <p:cNvPr id="20" name="Text 18"/>
          <p:cNvSpPr/>
          <p:nvPr/>
        </p:nvSpPr>
        <p:spPr>
          <a:xfrm>
            <a:off x="365760" y="233172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EEF4"/>
                </a:solidFill>
              </a:rPr>
              <a:t>4-distance restricted RF model achieves 51.8% — best Day 2 result (+16 pp over full-range RF)</a:t>
            </a:r>
            <a:endParaRPr lang="en-US" sz="950" dirty="0"/>
          </a:p>
        </p:txBody>
      </p:sp>
      <p:sp>
        <p:nvSpPr>
          <p:cNvPr id="21" name="Text 19"/>
          <p:cNvSpPr/>
          <p:nvPr/>
        </p:nvSpPr>
        <p:spPr>
          <a:xfrm>
            <a:off x="365760" y="2642616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EEF4"/>
                </a:solidFill>
              </a:rPr>
              <a:t>Steel is the easiest material to classify; foam-padded plastic box is the hardest</a:t>
            </a:r>
            <a:endParaRPr lang="en-US" sz="950" dirty="0"/>
          </a:p>
        </p:txBody>
      </p:sp>
      <p:sp>
        <p:nvSpPr>
          <p:cNvPr id="22" name="Text 20"/>
          <p:cNvSpPr/>
          <p:nvPr/>
        </p:nvSpPr>
        <p:spPr>
          <a:xfrm>
            <a:off x="365760" y="295351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EEF4"/>
                </a:solidFill>
              </a:rPr>
              <a:t>Distance is an important feature — models trained on near-field distances generalise better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365760" y="326440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EEF4"/>
                </a:solidFill>
              </a:rPr>
              <a:t>SVM &amp; KNN show limited benefit from 4-distance restriction strategy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663440" y="1417320"/>
            <a:ext cx="4114800" cy="256032"/>
          </a:xfrm>
          <a:prstGeom prst="rect">
            <a:avLst/>
          </a:prstGeom>
          <a:solidFill>
            <a:srgbClr val="FFD54F"/>
          </a:solidFill>
          <a:ln w="12700">
            <a:solidFill>
              <a:srgbClr val="FFD54F"/>
            </a:solidFill>
            <a:prstDash val="solid"/>
          </a:ln>
        </p:spPr>
        <p:txBody>
          <a:bodyPr/>
          <a:lstStyle/>
          <a:p>
            <a:endParaRPr lang="en-DE"/>
          </a:p>
        </p:txBody>
      </p:sp>
      <p:sp>
        <p:nvSpPr>
          <p:cNvPr id="25" name="Text 23"/>
          <p:cNvSpPr/>
          <p:nvPr/>
        </p:nvSpPr>
        <p:spPr>
          <a:xfrm>
            <a:off x="4754880" y="1435608"/>
            <a:ext cx="3931920" cy="21945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1A2744"/>
                </a:solidFill>
              </a:rPr>
              <a:t>Future Work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4754880" y="170992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EEF4"/>
                </a:solidFill>
              </a:rPr>
              <a:t>Apply domain adaptation / transfer learning for cross-session robustness</a:t>
            </a:r>
            <a:endParaRPr lang="en-US" sz="950" dirty="0"/>
          </a:p>
        </p:txBody>
      </p:sp>
      <p:sp>
        <p:nvSpPr>
          <p:cNvPr id="27" name="Text 25"/>
          <p:cNvSpPr/>
          <p:nvPr/>
        </p:nvSpPr>
        <p:spPr>
          <a:xfrm>
            <a:off x="4754880" y="2020824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EEF4"/>
                </a:solidFill>
              </a:rPr>
              <a:t>Explore deep learning (1D CNN, LSTM) directly on raw ADC signals</a:t>
            </a:r>
            <a:endParaRPr lang="en-US" sz="950" dirty="0"/>
          </a:p>
        </p:txBody>
      </p:sp>
      <p:sp>
        <p:nvSpPr>
          <p:cNvPr id="28" name="Text 26"/>
          <p:cNvSpPr/>
          <p:nvPr/>
        </p:nvSpPr>
        <p:spPr>
          <a:xfrm>
            <a:off x="4754880" y="2331720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EEF4"/>
                </a:solidFill>
              </a:rPr>
              <a:t>Automated distance selection to find optimal measurement windows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4754880" y="2642616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EEF4"/>
                </a:solidFill>
              </a:rPr>
              <a:t>Expand material classes — wood, glass, composite materials</a:t>
            </a:r>
            <a:endParaRPr lang="en-US" sz="950" dirty="0"/>
          </a:p>
        </p:txBody>
      </p:sp>
      <p:sp>
        <p:nvSpPr>
          <p:cNvPr id="30" name="Text 28"/>
          <p:cNvSpPr/>
          <p:nvPr/>
        </p:nvSpPr>
        <p:spPr>
          <a:xfrm>
            <a:off x="4754880" y="2953512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EEF4"/>
                </a:solidFill>
              </a:rPr>
              <a:t>Real-time classification on embedded hardware (Raspberry Pi / Arduino)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4754880" y="3264408"/>
            <a:ext cx="3931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950" dirty="0">
                <a:solidFill>
                  <a:srgbClr val="E8EEF4"/>
                </a:solidFill>
              </a:rPr>
              <a:t>Collect additional sessions to build a longitudinal drift model</a:t>
            </a:r>
            <a:endParaRPr lang="en-US" sz="950" dirty="0"/>
          </a:p>
        </p:txBody>
      </p:sp>
      <p:sp>
        <p:nvSpPr>
          <p:cNvPr id="32" name="Text 30"/>
          <p:cNvSpPr/>
          <p:nvPr/>
        </p:nvSpPr>
        <p:spPr>
          <a:xfrm>
            <a:off x="0" y="4892040"/>
            <a:ext cx="9144000" cy="256032"/>
          </a:xfrm>
          <a:prstGeom prst="rect">
            <a:avLst/>
          </a:prstGeom>
          <a:solidFill>
            <a:srgbClr val="131D38"/>
          </a:solidFill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8BA7C7"/>
                </a:solidFill>
              </a:rPr>
              <a:t>Object Boundary Network (OBN) — Material Classification via Ultrasound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16</TotalTime>
  <Words>1886</Words>
  <Application>Microsoft Office PowerPoint</Application>
  <PresentationFormat>On-screen Show (16:9)</PresentationFormat>
  <Paragraphs>316</Paragraphs>
  <Slides>16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16</vt:i4>
      </vt:variant>
    </vt:vector>
  </HeadingPairs>
  <TitlesOfParts>
    <vt:vector size="19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OBN Material Classification — Ultrasonic Sensing &amp; ML</dc:title>
  <dc:subject>PptxGenJS Presentation</dc:subject>
  <dc:creator>PptxGenJS</dc:creator>
  <cp:lastModifiedBy>Rashid, Romana</cp:lastModifiedBy>
  <cp:revision>2</cp:revision>
  <dcterms:created xsi:type="dcterms:W3CDTF">2026-03-20T20:32:05Z</dcterms:created>
  <dcterms:modified xsi:type="dcterms:W3CDTF">2026-03-20T20:50:32Z</dcterms:modified>
</cp:coreProperties>
</file>